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ellowstone.jpg"/>
          <p:cNvPicPr>
            <a:picLocks noChangeAspect="1"/>
          </p:cNvPicPr>
          <p:nvPr/>
        </p:nvPicPr>
        <p:blipFill>
          <a:blip r:embed="rId2"/>
          <a:srcRect t="10308" b="1030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17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57200" cy="8229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C9B4"/>
                </a:solidFill>
                <a:latin typeface="Calibri"/>
              </a:rPr>
              <a:t>PROYEK ANALISIS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Biodiversity in National Parks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E3E8DF"/>
                </a:solidFill>
                <a:latin typeface="Calibri"/>
              </a:rPr>
              <a:t>Status konservasi spesies di empat taman nasional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434840"/>
            <a:ext cx="29260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Rolin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D6C6"/>
                </a:solidFill>
                <a:latin typeface="Calibri"/>
              </a:rPr>
              <a:t>19 September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Kenapa Saya Angkat Topik 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19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2</a:t>
            </a:r>
          </a:p>
        </p:txBody>
      </p:sp>
      <p:pic>
        <p:nvPicPr>
          <p:cNvPr id="8" name="Picture 7" descr="smoky.jpg"/>
          <p:cNvPicPr>
            <a:picLocks noChangeAspect="1"/>
          </p:cNvPicPr>
          <p:nvPr/>
        </p:nvPicPr>
        <p:blipFill>
          <a:blip r:embed="rId2"/>
          <a:srcRect l="25071" r="25071"/>
          <a:stretch>
            <a:fillRect/>
          </a:stretch>
        </p:blipFill>
        <p:spPr>
          <a:xfrm>
            <a:off x="7863840" y="1600200"/>
            <a:ext cx="3566160" cy="402336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5669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0"/>
                </a:solidFill>
                <a:latin typeface="Calibri"/>
              </a:rPr>
              <a:t>Great Smoky Mountains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•  Saya memang suka hal-hal yang berhubungan dengan alam, jadi waktu dapat data taman nasional saya langsung tertarik.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•  Taman nasional itu rumah bagi ribuan spesies, tapi tidak semuanya terpantau dengan baik.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•  Pertanyaan yang mau saya jawab: kategori spesies apa yang paling banyak masuk daftar dilindungi?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•  Saya berharap hasilnya bisa jadi gambaran awal buat menentukan prioritas pemantauan.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Data yang Saya Pakai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19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species_info.csv — 5.824 baris. Isinya kategori, nama ilmiah, nama umum, dan status konservasi tiap spesies.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observations.csv — 23.296 baris. Catatan kemunculan spesies selama 7 hari pengamatan.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Datanya dari National Park Service, dipakai sebagai bahan latihan proyek.</a:t>
            </a:r>
          </a:p>
        </p:txBody>
      </p:sp>
      <p:pic>
        <p:nvPicPr>
          <p:cNvPr id="9" name="Picture 8" descr="yellowstone.jpg"/>
          <p:cNvPicPr>
            <a:picLocks noChangeAspect="1"/>
          </p:cNvPicPr>
          <p:nvPr/>
        </p:nvPicPr>
        <p:blipFill>
          <a:blip r:embed="rId2"/>
          <a:srcRect t="236" b="236"/>
          <a:stretch>
            <a:fillRect/>
          </a:stretch>
        </p:blipFill>
        <p:spPr>
          <a:xfrm>
            <a:off x="777240" y="3794760"/>
            <a:ext cx="2528316" cy="178308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77240" y="5623560"/>
            <a:ext cx="2528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Yellowstone</a:t>
            </a:r>
          </a:p>
        </p:txBody>
      </p:sp>
      <p:pic>
        <p:nvPicPr>
          <p:cNvPr id="11" name="Picture 10" descr="yosemite.jpg"/>
          <p:cNvPicPr>
            <a:picLocks noChangeAspect="1"/>
          </p:cNvPicPr>
          <p:nvPr/>
        </p:nvPicPr>
        <p:blipFill>
          <a:blip r:embed="rId3"/>
          <a:srcRect l="5080" r="5080"/>
          <a:stretch>
            <a:fillRect/>
          </a:stretch>
        </p:blipFill>
        <p:spPr>
          <a:xfrm>
            <a:off x="3561588" y="3794760"/>
            <a:ext cx="2528316" cy="178308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3561588" y="5623560"/>
            <a:ext cx="2528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Yosemite</a:t>
            </a:r>
          </a:p>
        </p:txBody>
      </p:sp>
      <p:pic>
        <p:nvPicPr>
          <p:cNvPr id="13" name="Picture 12" descr="bryce.jpg"/>
          <p:cNvPicPr>
            <a:picLocks noChangeAspect="1"/>
          </p:cNvPicPr>
          <p:nvPr/>
        </p:nvPicPr>
        <p:blipFill>
          <a:blip r:embed="rId4"/>
          <a:srcRect l="7462" r="7462"/>
          <a:stretch>
            <a:fillRect/>
          </a:stretch>
        </p:blipFill>
        <p:spPr>
          <a:xfrm>
            <a:off x="6345936" y="3794760"/>
            <a:ext cx="2528316" cy="178308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345936" y="5623560"/>
            <a:ext cx="2528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Bryce Canyon</a:t>
            </a:r>
          </a:p>
        </p:txBody>
      </p:sp>
      <p:pic>
        <p:nvPicPr>
          <p:cNvPr id="15" name="Picture 14" descr="smoky.jpg"/>
          <p:cNvPicPr>
            <a:picLocks noChangeAspect="1"/>
          </p:cNvPicPr>
          <p:nvPr/>
        </p:nvPicPr>
        <p:blipFill>
          <a:blip r:embed="rId5"/>
          <a:srcRect l="10120" r="10120"/>
          <a:stretch>
            <a:fillRect/>
          </a:stretch>
        </p:blipFill>
        <p:spPr>
          <a:xfrm>
            <a:off x="9130284" y="3794760"/>
            <a:ext cx="2528316" cy="178308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9130284" y="5623560"/>
            <a:ext cx="2528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Great Smoky Mts.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Cara Saya Mengerjakannya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19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1. Buka datanya, cek jumlah baris dan jenis kolomnya.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2. Isi kolom conservation_status yang kosong biar lebih rapi.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3. Hitung proporsi spesies dilindungi di tiap kategori.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4. Uji pakai chi-square, biar tahu bedanya signifikan atau cuma kebetulan.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5. Bandingkan total observasi antar taman.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6. Terakhir, tarik kesimpulan dari semua hasil itu.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Temuan 1 — Status Konservasi Spesies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19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69164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64592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Jumlah</a:t>
                      </a:r>
                    </a:p>
                  </a:txBody>
                  <a:tcPr anchor="ctr">
                    <a:solidFill>
                      <a:srgbClr val="1F3D2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No Intervention</a:t>
                      </a:r>
                    </a:p>
                  </a:txBody>
                  <a:tcPr anchor="ctr">
                    <a:solidFill>
                      <a:srgbClr val="E7DFC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5.633</a:t>
                      </a:r>
                    </a:p>
                  </a:txBody>
                  <a:tcPr anchor="ctr">
                    <a:solidFill>
                      <a:srgbClr val="E7DFC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Species of Concern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161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Endangered</a:t>
                      </a:r>
                    </a:p>
                  </a:txBody>
                  <a:tcPr anchor="ctr">
                    <a:solidFill>
                      <a:srgbClr val="E7DFC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E7DFC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Threatened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In Recovery</a:t>
                      </a:r>
                    </a:p>
                  </a:txBody>
                  <a:tcPr anchor="ctr">
                    <a:solidFill>
                      <a:srgbClr val="E7DFC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7DFC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1737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B5561F"/>
                </a:solidFill>
                <a:latin typeface="Georgia"/>
              </a:rPr>
              <a:t>191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8803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6"/>
                </a:solidFill>
                <a:latin typeface="Calibri"/>
              </a:rPr>
              <a:t>spesies berstatus dilindungi, cuma sekitar 3,3% dari total 5.824 spesies.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6"/>
                </a:solidFill>
                <a:latin typeface="Calibri"/>
              </a:rPr>
              <a:t>Sisanya yang paling banyak justru belum masuk program konservasi apa pun.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Temuan 2 — Proporsi Spesies Dilindungi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19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6675120" cy="529241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1737360"/>
            <a:ext cx="3840480" cy="41148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737360"/>
            <a:ext cx="82296" cy="411480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938528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Mamalia (17,0%) dan burung (15,4%) paling tinggi.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Amfibi dan ikan ada di sekitar 9%.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Tumbuhan paling bawah, cuma sekitar 1%.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Kelihatannya hewan lebih cepat kena dampak perubahan lingkungan.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Temuan 3 — Uji Chi-Square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19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4572000" cy="2103120"/>
          </a:xfrm>
          <a:prstGeom prst="rect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D6C6"/>
                </a:solidFill>
                <a:latin typeface="Calibri"/>
              </a:rPr>
              <a:t>chi2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628,58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8C9B4"/>
                </a:solidFill>
                <a:latin typeface="Calibri"/>
              </a:rPr>
              <a:t>p-value ≈ 2,46 × 10⁻¹¹⁷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8288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900">
                <a:solidFill>
                  <a:srgbClr val="2B2B26"/>
                </a:solidFill>
                <a:latin typeface="Calibri"/>
              </a:rPr>
              <a:t>•  p-value jauh di bawah 0,05.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900">
                <a:solidFill>
                  <a:srgbClr val="2B2B26"/>
                </a:solidFill>
                <a:latin typeface="Calibri"/>
              </a:rPr>
              <a:t>•  Artinya kategori spesies dan status konservasinya memang berhubungan.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900">
                <a:solidFill>
                  <a:srgbClr val="2B2B26"/>
                </a:solidFill>
                <a:latin typeface="Calibri"/>
              </a:rPr>
              <a:t>•  Jadi pola yang kelihatan tadi bukan cuma kebetulan.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Temuan 4 — Observasi per Taman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19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6675120" cy="334826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1737360"/>
            <a:ext cx="3840480" cy="41148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737360"/>
            <a:ext cx="82296" cy="411480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938528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Yellowstone paling tinggi, 1.587.641 observasi.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Disusul Yosemite (949.452) dan Bryce Canyon (633.291).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Great Smoky Mountains paling sedikit, 474.863.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Bisa jadi karena beda luas taman dan beda intensitas pengamatan.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Kesimpulan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19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yosemite.jpg"/>
          <p:cNvPicPr>
            <a:picLocks noChangeAspect="1"/>
          </p:cNvPicPr>
          <p:nvPr/>
        </p:nvPicPr>
        <p:blipFill>
          <a:blip r:embed="rId2"/>
          <a:srcRect l="22004" r="22004"/>
          <a:stretch>
            <a:fillRect/>
          </a:stretch>
        </p:blipFill>
        <p:spPr>
          <a:xfrm>
            <a:off x="7955279" y="1737360"/>
            <a:ext cx="3474720" cy="393192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955279" y="5715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0"/>
                </a:solidFill>
                <a:latin typeface="Calibri"/>
              </a:rPr>
              <a:t>Yosemite National 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Sebagian besar spesies belum masuk program konservasi; yang masuk paling banyak berstatus Species of Concern.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Mamalia dan burung punya proporsi dilindungi paling tinggi, tumbuhan paling rendah.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Uji chi-square menunjukkan hubungan yang signifikan antara kategori spesies dan status konservasi (p &lt; 0,05).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Yellowstone mencatat total observasi paling banyak dibanding taman lainnya.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Saran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19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bryce.jpg"/>
          <p:cNvPicPr>
            <a:picLocks noChangeAspect="1"/>
          </p:cNvPicPr>
          <p:nvPr/>
        </p:nvPicPr>
        <p:blipFill>
          <a:blip r:embed="rId2"/>
          <a:srcRect l="23488" r="23488"/>
          <a:stretch>
            <a:fillRect/>
          </a:stretch>
        </p:blipFill>
        <p:spPr>
          <a:xfrm>
            <a:off x="7955279" y="1737360"/>
            <a:ext cx="3474720" cy="393192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955279" y="5715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0"/>
                </a:solidFill>
                <a:latin typeface="Calibri"/>
              </a:rPr>
              <a:t>Bryce Canyon National 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Prioritas konservasi bisa difokuskan ke mamalia dan burung.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Pemantauan ditambah di taman yang observasinya paling sedikit, seperti Great Smoky Mountains.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Kalau periode pengamatannya lebih dari 7 hari, polanya mungkin lebih stabil.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Data status konservasi sebaiknya diperbarui berkala biar tetap akurat.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Catatan &amp; Sumber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19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Data: National Park Service — dataset proyek Codecademy.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Foto taman: Wikimedia Commons (domain publik / lisensi bebas).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Dioperasikan pakai Python (pandas, matplotlib, seaborn) di Jupyter Notebook.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Slide ini saya susun sendiri dari hasil analisis di notebook.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osemite.jpg"/>
          <p:cNvPicPr>
            <a:picLocks noChangeAspect="1"/>
          </p:cNvPicPr>
          <p:nvPr/>
        </p:nvPicPr>
        <p:blipFill>
          <a:blip r:embed="rId2"/>
          <a:srcRect t="5609" b="560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D2B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97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Terima kasih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794760"/>
            <a:ext cx="274320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DE4D8"/>
                </a:solidFill>
                <a:latin typeface="Calibri"/>
              </a:rPr>
              <a:t>Rolin  ·  19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FB3A2"/>
                </a:solidFill>
                <a:latin typeface="Calibri"/>
              </a:rPr>
              <a:t>Sumber foto: Wikimedia Commons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