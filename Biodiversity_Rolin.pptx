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ellowstone.jpg"/>
          <p:cNvPicPr>
            <a:picLocks noChangeAspect="1"/>
          </p:cNvPicPr>
          <p:nvPr/>
        </p:nvPicPr>
        <p:blipFill>
          <a:blip r:embed="rId2"/>
          <a:srcRect t="10308" b="1030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17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57200" cy="8229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C9B4"/>
                </a:solidFill>
                <a:latin typeface="Calibri"/>
              </a:rPr>
              <a:t>DATA ANALYSIS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Biodiversity in National Parks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E3E8DF"/>
                </a:solidFill>
                <a:latin typeface="Calibri"/>
              </a:rPr>
              <a:t>Conservation status of species across four national parks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434840"/>
            <a:ext cx="29260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Rolin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D6C6"/>
                </a:solidFill>
                <a:latin typeface="Calibri"/>
              </a:rPr>
              <a:t>September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Why I Picked This Topic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2</a:t>
            </a:r>
          </a:p>
        </p:txBody>
      </p:sp>
      <p:pic>
        <p:nvPicPr>
          <p:cNvPr id="8" name="Picture 7" descr="smoky.jpg"/>
          <p:cNvPicPr>
            <a:picLocks noChangeAspect="1"/>
          </p:cNvPicPr>
          <p:nvPr/>
        </p:nvPicPr>
        <p:blipFill>
          <a:blip r:embed="rId2"/>
          <a:srcRect l="25071" r="25071"/>
          <a:stretch>
            <a:fillRect/>
          </a:stretch>
        </p:blipFill>
        <p:spPr>
          <a:xfrm>
            <a:off x="7863840" y="1600200"/>
            <a:ext cx="3566160" cy="402336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863840" y="56692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0"/>
                </a:solidFill>
                <a:latin typeface="Calibri"/>
              </a:rPr>
              <a:t>Great Smoky Mountains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•  I have always liked anything related to nature, so when I got this national park dataset I was instantly interested.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•  National parks are home to thousands of species, but not all of them are being tracked properly.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•  The question I wanted to answer: which category of species is most often listed as protected?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•  I hope the result can be a starting point for deciding where to focus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The Data I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species_info.csv — 5,824 rows. It holds the category, scientific name, common names, and conservation status of each species.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observations.csv — 23,296 rows. Sightings of each species over a 7-day period.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The data comes from the National Park Service and is used here as project practice.</a:t>
            </a:r>
          </a:p>
        </p:txBody>
      </p:sp>
      <p:pic>
        <p:nvPicPr>
          <p:cNvPr id="9" name="Picture 8" descr="yellowstone.jpg"/>
          <p:cNvPicPr>
            <a:picLocks noChangeAspect="1"/>
          </p:cNvPicPr>
          <p:nvPr/>
        </p:nvPicPr>
        <p:blipFill>
          <a:blip r:embed="rId2"/>
          <a:srcRect t="236" b="236"/>
          <a:stretch>
            <a:fillRect/>
          </a:stretch>
        </p:blipFill>
        <p:spPr>
          <a:xfrm>
            <a:off x="777240" y="3794760"/>
            <a:ext cx="2528316" cy="178308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77240" y="5623560"/>
            <a:ext cx="2528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Yellowstone</a:t>
            </a:r>
          </a:p>
        </p:txBody>
      </p:sp>
      <p:pic>
        <p:nvPicPr>
          <p:cNvPr id="11" name="Picture 10" descr="yosemite.jpg"/>
          <p:cNvPicPr>
            <a:picLocks noChangeAspect="1"/>
          </p:cNvPicPr>
          <p:nvPr/>
        </p:nvPicPr>
        <p:blipFill>
          <a:blip r:embed="rId3"/>
          <a:srcRect l="5080" r="5080"/>
          <a:stretch>
            <a:fillRect/>
          </a:stretch>
        </p:blipFill>
        <p:spPr>
          <a:xfrm>
            <a:off x="3561588" y="3794760"/>
            <a:ext cx="2528316" cy="178308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3561588" y="5623560"/>
            <a:ext cx="2528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Yosemite</a:t>
            </a:r>
          </a:p>
        </p:txBody>
      </p:sp>
      <p:pic>
        <p:nvPicPr>
          <p:cNvPr id="13" name="Picture 12" descr="bryce.jpg"/>
          <p:cNvPicPr>
            <a:picLocks noChangeAspect="1"/>
          </p:cNvPicPr>
          <p:nvPr/>
        </p:nvPicPr>
        <p:blipFill>
          <a:blip r:embed="rId4"/>
          <a:srcRect l="7462" r="7462"/>
          <a:stretch>
            <a:fillRect/>
          </a:stretch>
        </p:blipFill>
        <p:spPr>
          <a:xfrm>
            <a:off x="6345936" y="3794760"/>
            <a:ext cx="2528316" cy="178308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345936" y="5623560"/>
            <a:ext cx="2528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Bryce Canyon</a:t>
            </a:r>
          </a:p>
        </p:txBody>
      </p:sp>
      <p:pic>
        <p:nvPicPr>
          <p:cNvPr id="15" name="Picture 14" descr="smoky.jpg"/>
          <p:cNvPicPr>
            <a:picLocks noChangeAspect="1"/>
          </p:cNvPicPr>
          <p:nvPr/>
        </p:nvPicPr>
        <p:blipFill>
          <a:blip r:embed="rId5"/>
          <a:srcRect l="10120" r="10120"/>
          <a:stretch>
            <a:fillRect/>
          </a:stretch>
        </p:blipFill>
        <p:spPr>
          <a:xfrm>
            <a:off x="9130284" y="3794760"/>
            <a:ext cx="2528316" cy="178308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9130284" y="5623560"/>
            <a:ext cx="2528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Great Smoky Mts.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How I Worked On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1. Opened the data and checked the row counts and column types.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2. Filled in the empty values in the conservation_status column to keep things tidy.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3. Calculated the proportion of protected species for each category.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4. Ran a chi-square test to see whether the difference was real or just chance.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5. Compared the total observations between parks.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800">
                <a:solidFill>
                  <a:srgbClr val="2B2B26"/>
                </a:solidFill>
                <a:latin typeface="Calibri"/>
              </a:rPr>
              <a:t>6. Pulled everything together into a conclusion.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Finding 1 — Conservation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69164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64592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anchor="ctr">
                    <a:solidFill>
                      <a:srgbClr val="1F3D2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No Intervention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5,633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Species of Concern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Endangered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Threatened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In Recovery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B2B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E7DFC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1737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B5561F"/>
                </a:solidFill>
                <a:latin typeface="Georgia"/>
              </a:rPr>
              <a:t>191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8803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6"/>
                </a:solidFill>
                <a:latin typeface="Calibri"/>
              </a:rPr>
              <a:t>species are listed as protected, only about 3.3% of the 5,824 species.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6"/>
                </a:solidFill>
                <a:latin typeface="Calibri"/>
              </a:rPr>
              <a:t>The largest group by far is not part of any conservation program at 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Finding 2 — Share of Protected Species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6675120" cy="529241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737360"/>
            <a:ext cx="3840480" cy="41148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737360"/>
            <a:ext cx="82296" cy="411480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938528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Mammals (17.0%) and birds (15.4%) come out on top.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Amphibians and fish sit around 9%.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Plants are at the bottom, only about 1%.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Animals seem to be hit faster by environmental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Finding 3 — Chi-Square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37360"/>
            <a:ext cx="4572000" cy="2103120"/>
          </a:xfrm>
          <a:prstGeom prst="rect">
            <a:avLst/>
          </a:prstGeom>
          <a:solidFill>
            <a:srgbClr val="1F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C9D6C6"/>
                </a:solidFill>
                <a:latin typeface="Calibri"/>
              </a:rPr>
              <a:t>chi2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628.58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8C9B4"/>
                </a:solidFill>
                <a:latin typeface="Calibri"/>
              </a:rPr>
              <a:t>p-value ≈ 2.46 × 10⁻¹¹⁷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8288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900">
                <a:solidFill>
                  <a:srgbClr val="2B2B26"/>
                </a:solidFill>
                <a:latin typeface="Calibri"/>
              </a:rPr>
              <a:t>•  The p-value is far below 0.05.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900">
                <a:solidFill>
                  <a:srgbClr val="2B2B26"/>
                </a:solidFill>
                <a:latin typeface="Calibri"/>
              </a:rPr>
              <a:t>•  That means species category and conservation status are genuinely related.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900">
                <a:solidFill>
                  <a:srgbClr val="2B2B26"/>
                </a:solidFill>
                <a:latin typeface="Calibri"/>
              </a:rPr>
              <a:t>•  So the pattern I saw earlier is not just a coincidence.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Finding 4 — Observations per Park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8</a:t>
            </a:r>
          </a:p>
        </p:txBody>
      </p:sp>
      <p:pic>
        <p:nvPicPr>
          <p:cNvPr id="8" name="Picture 7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6675120" cy="334826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72400" y="1737360"/>
            <a:ext cx="3840480" cy="41148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737360"/>
            <a:ext cx="82296" cy="411480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938528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Yellowstone is highest, with 1,587,641 observations.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Followed by Yosemite (949,452) and Bryce Canyon (633,291).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Great Smoky Mountains is the lowest, at 474,863.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6"/>
                </a:solidFill>
                <a:latin typeface="Calibri"/>
              </a:rPr>
              <a:t>This may come down to park size and how much surveying is done.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yosemite.jpg"/>
          <p:cNvPicPr>
            <a:picLocks noChangeAspect="1"/>
          </p:cNvPicPr>
          <p:nvPr/>
        </p:nvPicPr>
        <p:blipFill>
          <a:blip r:embed="rId2"/>
          <a:srcRect l="22004" r="22004"/>
          <a:stretch>
            <a:fillRect/>
          </a:stretch>
        </p:blipFill>
        <p:spPr>
          <a:xfrm>
            <a:off x="7955279" y="1737360"/>
            <a:ext cx="3474720" cy="393192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955279" y="5715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0"/>
                </a:solidFill>
                <a:latin typeface="Calibri"/>
              </a:rPr>
              <a:t>Yosemite National 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Most species are not part of any conservation program; among those that are, Species of Concern is the most common status.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Mammals and birds have the highest share of protected species, plants the lowest.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The chi-square test shows a significant link between species category and conservation status (p &lt; 0.05).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Yellowstone recorded the highest total number of observations.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bryce.jpg"/>
          <p:cNvPicPr>
            <a:picLocks noChangeAspect="1"/>
          </p:cNvPicPr>
          <p:nvPr/>
        </p:nvPicPr>
        <p:blipFill>
          <a:blip r:embed="rId2"/>
          <a:srcRect l="23488" r="23488"/>
          <a:stretch>
            <a:fillRect/>
          </a:stretch>
        </p:blipFill>
        <p:spPr>
          <a:xfrm>
            <a:off x="7955279" y="1737360"/>
            <a:ext cx="3474720" cy="3931920"/>
          </a:xfrm>
          <a:prstGeom prst="rect">
            <a:avLst/>
          </a:prstGeom>
          <a:ln w="19050">
            <a:solidFill>
              <a:srgbClr val="F6F2E9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7955279" y="5715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6B60"/>
                </a:solidFill>
                <a:latin typeface="Calibri"/>
              </a:rPr>
              <a:t>Bryce Canyon National 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Conservation efforts could be focused on mammals and birds.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Monitoring should be increased in the parks with the fewest observations, such as Great Smoky Mountains.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A period longer than 7 days would likely give a more stable pattern.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Conservation status data should be refreshed regularly to stay accurate.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3D2B"/>
                </a:solidFill>
                <a:latin typeface="Georgia"/>
              </a:rPr>
              <a:t>Notes &amp;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1133856"/>
            <a:ext cx="155448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6B6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Data: National Park Service — Codecademy project dataset.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Park photos: Wikimedia Commons (public domain / free licence).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Built with Python (pandas, matplotlib, seaborn) in Jupyter Notebook.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1700">
                <a:solidFill>
                  <a:srgbClr val="2B2B26"/>
                </a:solidFill>
                <a:latin typeface="Calibri"/>
              </a:rPr>
              <a:t>•  These slides were put together by me from the analysis in the notebook.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osemite.jpg"/>
          <p:cNvPicPr>
            <a:picLocks noChangeAspect="1"/>
          </p:cNvPicPr>
          <p:nvPr/>
        </p:nvPicPr>
        <p:blipFill>
          <a:blip r:embed="rId2"/>
          <a:srcRect t="5609" b="560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D2B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97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794760"/>
            <a:ext cx="2743200" cy="45720"/>
          </a:xfrm>
          <a:prstGeom prst="rect">
            <a:avLst/>
          </a:prstGeom>
          <a:solidFill>
            <a:srgbClr val="B55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69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DE4D8"/>
                </a:solidFill>
                <a:latin typeface="Calibri"/>
              </a:rPr>
              <a:t>Rolin  ·  September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FB3A2"/>
                </a:solidFill>
                <a:latin typeface="Calibri"/>
              </a:rPr>
              <a:t>Photo credit: Wikimedia Commons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